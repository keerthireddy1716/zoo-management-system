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6"/>
  </p:notesMasterIdLst>
  <p:sldIdLst>
    <p:sldId id="256" r:id="rId2"/>
    <p:sldId id="267" r:id="rId3"/>
    <p:sldId id="265" r:id="rId4"/>
    <p:sldId id="272" r:id="rId5"/>
    <p:sldId id="257" r:id="rId6"/>
    <p:sldId id="259" r:id="rId7"/>
    <p:sldId id="260" r:id="rId8"/>
    <p:sldId id="262" r:id="rId9"/>
    <p:sldId id="269" r:id="rId10"/>
    <p:sldId id="271" r:id="rId11"/>
    <p:sldId id="266" r:id="rId12"/>
    <p:sldId id="258" r:id="rId13"/>
    <p:sldId id="268" r:id="rId14"/>
    <p:sldId id="264" r:id="rId15"/>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145" autoAdjust="0"/>
    <p:restoredTop sz="94610"/>
  </p:normalViewPr>
  <p:slideViewPr>
    <p:cSldViewPr snapToGrid="0" snapToObjects="1">
      <p:cViewPr varScale="1">
        <p:scale>
          <a:sx n="101" d="100"/>
          <a:sy n="101" d="100"/>
        </p:scale>
        <p:origin x="66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277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1503060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6785810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7676242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42428159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96467492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1689007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304230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69258705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0231069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817636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42921889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6412992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1198761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4182468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12007445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3415014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7322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dirty="0"/>
              <a:pPr/>
              <a:t>5/9/2024</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87769993"/>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426511"/>
            <a:ext cx="8357806" cy="1568506"/>
          </a:xfrm>
          <a:prstGeom prst="rect">
            <a:avLst/>
          </a:prstGeom>
          <a:noFill/>
          <a:ln/>
        </p:spPr>
        <p:txBody>
          <a:bodyPr wrap="square" rtlCol="0" anchor="ctr"/>
          <a:lstStyle/>
          <a:p>
            <a:pPr algn="ctr"/>
            <a:r>
              <a:rPr lang="en-US" sz="3200" b="1" dirty="0">
                <a:solidFill>
                  <a:srgbClr val="000000"/>
                </a:solidFill>
                <a:latin typeface="Optima" pitchFamily="34" charset="0"/>
                <a:ea typeface="Optima" pitchFamily="34" charset="-122"/>
                <a:cs typeface="Optima" pitchFamily="34" charset="-120"/>
              </a:rPr>
              <a:t>CMR COLLEGE OF ENGINEERING AND TECHNOLOGY</a:t>
            </a:r>
          </a:p>
          <a:p>
            <a:pPr algn="ctr"/>
            <a:endParaRPr lang="en-US" sz="3200" b="1" dirty="0">
              <a:solidFill>
                <a:srgbClr val="000000"/>
              </a:solidFill>
              <a:latin typeface="Optima" pitchFamily="34" charset="0"/>
              <a:ea typeface="Optima" pitchFamily="34" charset="-122"/>
              <a:cs typeface="Optima" pitchFamily="34" charset="-120"/>
            </a:endParaRPr>
          </a:p>
        </p:txBody>
      </p:sp>
      <p:sp>
        <p:nvSpPr>
          <p:cNvPr id="4" name="Subtitle 2">
            <a:extLst>
              <a:ext uri="{FF2B5EF4-FFF2-40B4-BE49-F238E27FC236}">
                <a16:creationId xmlns:a16="http://schemas.microsoft.com/office/drawing/2014/main" id="{8588987D-6F9E-8D59-C104-C76F95D802E3}"/>
              </a:ext>
            </a:extLst>
          </p:cNvPr>
          <p:cNvSpPr txBox="1">
            <a:spLocks/>
          </p:cNvSpPr>
          <p:nvPr/>
        </p:nvSpPr>
        <p:spPr>
          <a:xfrm>
            <a:off x="3990515" y="3210260"/>
            <a:ext cx="4481209" cy="1765279"/>
          </a:xfrm>
          <a:prstGeom prst="rect">
            <a:avLst/>
          </a:prstGeom>
        </p:spPr>
        <p:txBody>
          <a:bodyPr>
            <a:normAutofit fontScale="85000" lnSpcReduction="10000"/>
          </a:bodyPr>
          <a:lstStyle>
            <a:lvl1pPr marL="171450" indent="-171450" algn="l" defTabSz="685800" rtl="0" eaLnBrk="1" latinLnBrk="0" hangingPunct="1">
              <a:lnSpc>
                <a:spcPct val="120000"/>
              </a:lnSpc>
              <a:spcBef>
                <a:spcPts val="75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1pPr>
            <a:lvl2pPr marL="514350" indent="-171450" algn="l" defTabSz="685800" rtl="0" eaLnBrk="1" latinLnBrk="0" hangingPunct="1">
              <a:lnSpc>
                <a:spcPct val="120000"/>
              </a:lnSpc>
              <a:spcBef>
                <a:spcPts val="375"/>
              </a:spcBef>
              <a:buSzPct val="125000"/>
              <a:buFont typeface="Arial" panose="020B0604020202020204" pitchFamily="34" charset="0"/>
              <a:buChar char="•"/>
              <a:defRPr sz="1500" kern="1200">
                <a:solidFill>
                  <a:schemeClr val="tx1"/>
                </a:solidFill>
                <a:effectLst>
                  <a:outerShdw blurRad="152400" dist="38100" dir="2700000" algn="tl">
                    <a:srgbClr val="000000">
                      <a:alpha val="36000"/>
                    </a:srgbClr>
                  </a:outerShdw>
                </a:effectLst>
                <a:latin typeface="+mn-lt"/>
                <a:ea typeface="+mn-ea"/>
                <a:cs typeface="+mn-cs"/>
              </a:defRPr>
            </a:lvl2pPr>
            <a:lvl3pPr marL="857250" indent="-171450" algn="l" defTabSz="685800" rtl="0" eaLnBrk="1" latinLnBrk="0" hangingPunct="1">
              <a:lnSpc>
                <a:spcPct val="120000"/>
              </a:lnSpc>
              <a:spcBef>
                <a:spcPts val="375"/>
              </a:spcBef>
              <a:buSzPct val="125000"/>
              <a:buFont typeface="Arial" panose="020B0604020202020204" pitchFamily="34" charset="0"/>
              <a:buChar char="•"/>
              <a:defRPr sz="1350" kern="1200">
                <a:solidFill>
                  <a:schemeClr val="tx1"/>
                </a:solidFill>
                <a:effectLst>
                  <a:outerShdw blurRad="152400" dist="38100" dir="2700000" algn="tl">
                    <a:srgbClr val="000000">
                      <a:alpha val="36000"/>
                    </a:srgbClr>
                  </a:outerShdw>
                </a:effectLst>
                <a:latin typeface="+mn-lt"/>
                <a:ea typeface="+mn-ea"/>
                <a:cs typeface="+mn-cs"/>
              </a:defRPr>
            </a:lvl3pPr>
            <a:lvl4pPr marL="12001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effectLst>
                  <a:outerShdw blurRad="152400" dist="38100" dir="2700000" algn="tl">
                    <a:srgbClr val="000000">
                      <a:alpha val="36000"/>
                    </a:srgbClr>
                  </a:outerShdw>
                </a:effectLst>
                <a:latin typeface="+mn-lt"/>
                <a:ea typeface="+mn-ea"/>
                <a:cs typeface="+mn-cs"/>
              </a:defRPr>
            </a:lvl4pPr>
            <a:lvl5pPr marL="15430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effectLst>
                  <a:outerShdw blurRad="152400" dist="38100" dir="2700000" algn="tl">
                    <a:srgbClr val="000000">
                      <a:alpha val="36000"/>
                    </a:srgbClr>
                  </a:outerShdw>
                </a:effectLst>
                <a:latin typeface="+mn-lt"/>
                <a:ea typeface="+mn-ea"/>
                <a:cs typeface="+mn-cs"/>
              </a:defRPr>
            </a:lvl5pPr>
            <a:lvl6pPr marL="18859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9pPr>
          </a:lstStyle>
          <a:p>
            <a:pPr marL="0" indent="0">
              <a:buNone/>
            </a:pPr>
            <a:r>
              <a:rPr lang="en-US" b="1" dirty="0">
                <a:effectLst/>
                <a:latin typeface="Times New Roman" panose="02020603050405020304" pitchFamily="18" charset="0"/>
                <a:cs typeface="Times New Roman" panose="02020603050405020304" pitchFamily="18" charset="0"/>
              </a:rPr>
              <a:t>Name:    </a:t>
            </a:r>
            <a:r>
              <a:rPr lang="en-US" dirty="0">
                <a:effectLst/>
                <a:latin typeface="Times New Roman" panose="02020603050405020304" pitchFamily="18" charset="0"/>
                <a:cs typeface="Times New Roman" panose="02020603050405020304" pitchFamily="18" charset="0"/>
              </a:rPr>
              <a:t>G. Keerthi Reddy-22H51A0520</a:t>
            </a:r>
          </a:p>
          <a:p>
            <a:pPr marL="0" indent="0">
              <a:buNone/>
            </a:pPr>
            <a:r>
              <a:rPr lang="en-US" dirty="0">
                <a:effectLst/>
                <a:latin typeface="Times New Roman" panose="02020603050405020304" pitchFamily="18" charset="0"/>
                <a:cs typeface="Times New Roman" panose="02020603050405020304" pitchFamily="18" charset="0"/>
              </a:rPr>
              <a:t>                G.Ajay-22H51A0522</a:t>
            </a:r>
          </a:p>
          <a:p>
            <a:pPr marL="0" indent="0">
              <a:buNone/>
            </a:pPr>
            <a:r>
              <a:rPr lang="en-US" dirty="0">
                <a:effectLst/>
                <a:latin typeface="Times New Roman" panose="02020603050405020304" pitchFamily="18" charset="0"/>
                <a:cs typeface="Times New Roman" panose="02020603050405020304" pitchFamily="18" charset="0"/>
              </a:rPr>
              <a:t>                G.Krishnapriya-22H51A0525</a:t>
            </a:r>
          </a:p>
          <a:p>
            <a:pPr marL="0" indent="0">
              <a:buNone/>
            </a:pPr>
            <a:r>
              <a:rPr lang="en-US" b="1" dirty="0">
                <a:effectLst/>
                <a:latin typeface="Times New Roman" panose="02020603050405020304" pitchFamily="18" charset="0"/>
                <a:cs typeface="Times New Roman" panose="02020603050405020304" pitchFamily="18" charset="0"/>
              </a:rPr>
              <a:t>Sec:   </a:t>
            </a:r>
            <a:r>
              <a:rPr lang="en-US" dirty="0">
                <a:effectLst/>
                <a:latin typeface="Times New Roman" panose="02020603050405020304" pitchFamily="18" charset="0"/>
                <a:cs typeface="Times New Roman" panose="02020603050405020304" pitchFamily="18" charset="0"/>
              </a:rPr>
              <a:t>CSE-C</a:t>
            </a:r>
          </a:p>
          <a:p>
            <a:pPr marL="0" indent="0">
              <a:buNone/>
            </a:pPr>
            <a:r>
              <a:rPr lang="en-US" b="1" dirty="0">
                <a:effectLst/>
                <a:latin typeface="Times New Roman" panose="02020603050405020304" pitchFamily="18" charset="0"/>
                <a:cs typeface="Times New Roman" panose="02020603050405020304" pitchFamily="18" charset="0"/>
              </a:rPr>
              <a:t>Guide: </a:t>
            </a:r>
            <a:r>
              <a:rPr lang="en-US" dirty="0">
                <a:effectLst/>
                <a:latin typeface="Times New Roman" panose="02020603050405020304" pitchFamily="18" charset="0"/>
                <a:cs typeface="Times New Roman" panose="02020603050405020304" pitchFamily="18" charset="0"/>
              </a:rPr>
              <a:t>MS . Archana </a:t>
            </a:r>
            <a:r>
              <a:rPr lang="en-US" dirty="0" err="1">
                <a:effectLst/>
                <a:latin typeface="Times New Roman" panose="02020603050405020304" pitchFamily="18" charset="0"/>
                <a:cs typeface="Times New Roman" panose="02020603050405020304" pitchFamily="18" charset="0"/>
              </a:rPr>
              <a:t>Bathula</a:t>
            </a:r>
            <a:endParaRPr lang="en-IN" dirty="0">
              <a:effectLst/>
              <a:latin typeface="Times New Roman" panose="02020603050405020304" pitchFamily="18" charset="0"/>
              <a:cs typeface="Times New Roman" panose="02020603050405020304" pitchFamily="18" charset="0"/>
            </a:endParaRPr>
          </a:p>
        </p:txBody>
      </p:sp>
      <p:pic>
        <p:nvPicPr>
          <p:cNvPr id="1028" name="Picture 4" descr="CMR College of Engineering &amp; Technology | Top Engineering ...">
            <a:extLst>
              <a:ext uri="{FF2B5EF4-FFF2-40B4-BE49-F238E27FC236}">
                <a16:creationId xmlns:a16="http://schemas.microsoft.com/office/drawing/2014/main" id="{4E9C6313-D413-514D-D76C-2A59BD892B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93" y="426511"/>
            <a:ext cx="575959" cy="54207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4D1F8D-0A97-240E-2648-6851C2DAF550}"/>
              </a:ext>
            </a:extLst>
          </p:cNvPr>
          <p:cNvSpPr txBox="1"/>
          <p:nvPr/>
        </p:nvSpPr>
        <p:spPr>
          <a:xfrm>
            <a:off x="1369718" y="2047938"/>
            <a:ext cx="5433797" cy="584775"/>
          </a:xfrm>
          <a:prstGeom prst="rect">
            <a:avLst/>
          </a:prstGeom>
          <a:noFill/>
        </p:spPr>
        <p:txBody>
          <a:bodyPr wrap="square" rtlCol="0">
            <a:spAutoFit/>
          </a:bodyPr>
          <a:lstStyle/>
          <a:p>
            <a:r>
              <a:rPr lang="en-IN" sz="3200" dirty="0">
                <a:solidFill>
                  <a:srgbClr val="0D0D0D"/>
                </a:solidFill>
                <a:effectLst/>
                <a:highlight>
                  <a:srgbClr val="FFFFFF"/>
                </a:highlight>
                <a:latin typeface="Algerian" panose="04020705040A02060702" pitchFamily="82" charset="0"/>
                <a:ea typeface="Calibri" panose="020F0502020204030204" pitchFamily="34" charset="0"/>
              </a:rPr>
              <a:t>Zoo Management System </a:t>
            </a:r>
            <a:endParaRPr lang="en-US" sz="3200" dirty="0">
              <a:latin typeface="Algerian" panose="04020705040A02060702" pitchFamily="82" charset="0"/>
            </a:endParaRPr>
          </a:p>
        </p:txBody>
      </p:sp>
      <p:pic>
        <p:nvPicPr>
          <p:cNvPr id="3074" name="Picture 2" descr="Free vector beautiful zoo entrance illustration">
            <a:extLst>
              <a:ext uri="{FF2B5EF4-FFF2-40B4-BE49-F238E27FC236}">
                <a16:creationId xmlns:a16="http://schemas.microsoft.com/office/drawing/2014/main" id="{A07956CB-0DA8-3EBF-D8AA-475BA6476C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153" y="2947947"/>
            <a:ext cx="3655362" cy="21955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F1F63E-EAAE-DB44-FF1B-3A0AFFFDD301}"/>
              </a:ext>
            </a:extLst>
          </p:cNvPr>
          <p:cNvSpPr txBox="1"/>
          <p:nvPr/>
        </p:nvSpPr>
        <p:spPr>
          <a:xfrm>
            <a:off x="611178" y="544850"/>
            <a:ext cx="5851213" cy="523220"/>
          </a:xfrm>
          <a:prstGeom prst="rect">
            <a:avLst/>
          </a:prstGeom>
          <a:noFill/>
        </p:spPr>
        <p:txBody>
          <a:bodyPr wrap="square" rtlCol="0">
            <a:spAutoFit/>
          </a:bodyPr>
          <a:lstStyle/>
          <a:p>
            <a:r>
              <a:rPr lang="en-US" sz="2800" b="1" u="sng" dirty="0">
                <a:solidFill>
                  <a:schemeClr val="accent1"/>
                </a:solidFill>
                <a:latin typeface="Times New Roman" panose="02020603050405020304" pitchFamily="18" charset="0"/>
                <a:cs typeface="Times New Roman" panose="02020603050405020304" pitchFamily="18" charset="0"/>
              </a:rPr>
              <a:t>CONTENTS:</a:t>
            </a:r>
            <a:endParaRPr lang="en-US" sz="2800" u="sng" dirty="0"/>
          </a:p>
        </p:txBody>
      </p:sp>
      <p:sp>
        <p:nvSpPr>
          <p:cNvPr id="3" name="TextBox 2">
            <a:extLst>
              <a:ext uri="{FF2B5EF4-FFF2-40B4-BE49-F238E27FC236}">
                <a16:creationId xmlns:a16="http://schemas.microsoft.com/office/drawing/2014/main" id="{CC5E9972-FEAA-672E-59C7-A42B6A1B8820}"/>
              </a:ext>
            </a:extLst>
          </p:cNvPr>
          <p:cNvSpPr txBox="1"/>
          <p:nvPr/>
        </p:nvSpPr>
        <p:spPr>
          <a:xfrm>
            <a:off x="611178" y="1231834"/>
            <a:ext cx="4183499" cy="2862322"/>
          </a:xfrm>
          <a:prstGeom prst="rect">
            <a:avLst/>
          </a:prstGeom>
          <a:noFill/>
        </p:spPr>
        <p:txBody>
          <a:bodyPr wrap="square" rtlCol="0">
            <a:spAutoFit/>
          </a:bodyPr>
          <a:lstStyle/>
          <a:p>
            <a:pPr marL="285750" indent="-28575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ABSTRACT</a:t>
            </a: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KEY OBJECTIVES</a:t>
            </a:r>
            <a:endParaRPr lang="en-US"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INTRODUCTON</a:t>
            </a:r>
          </a:p>
          <a:p>
            <a:pPr marL="285750" indent="-285750">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IMPLEMENTATION</a:t>
            </a:r>
            <a:endParaRPr lang="en-US" dirty="0">
              <a:solidFill>
                <a:schemeClr val="tx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dirty="0">
                <a:solidFill>
                  <a:schemeClr val="tx1"/>
                </a:solidFill>
                <a:latin typeface="Times New Roman" panose="02020603050405020304" pitchFamily="18" charset="0"/>
                <a:cs typeface="Times New Roman" panose="02020603050405020304" pitchFamily="18" charset="0"/>
              </a:rPr>
              <a:t> EXISTING SOLUTIONS</a:t>
            </a:r>
          </a:p>
          <a:p>
            <a:pPr marL="285750" indent="-285750">
              <a:buFont typeface="Wingdings" panose="05000000000000000000" pitchFamily="2" charset="2"/>
              <a:buChar char="ü"/>
            </a:pPr>
            <a:r>
              <a:rPr lang="en-IN" dirty="0">
                <a:solidFill>
                  <a:schemeClr val="tx1"/>
                </a:solidFill>
                <a:latin typeface="Times New Roman" panose="02020603050405020304" pitchFamily="18" charset="0"/>
                <a:cs typeface="Times New Roman" panose="02020603050405020304" pitchFamily="18" charset="0"/>
              </a:rPr>
              <a:t>PROBLEM DEFINITION</a:t>
            </a:r>
          </a:p>
          <a:p>
            <a:pPr marL="285750" indent="-285750">
              <a:buFont typeface="Wingdings" panose="05000000000000000000" pitchFamily="2" charset="2"/>
              <a:buChar char="ü"/>
            </a:pPr>
            <a:r>
              <a:rPr lang="en-IN" dirty="0">
                <a:solidFill>
                  <a:schemeClr val="tx1"/>
                </a:solidFill>
                <a:latin typeface="Times New Roman" panose="02020603050405020304" pitchFamily="18" charset="0"/>
                <a:cs typeface="Times New Roman" panose="02020603050405020304" pitchFamily="18" charset="0"/>
              </a:rPr>
              <a:t>TECHNOLOGIES USED</a:t>
            </a:r>
          </a:p>
          <a:p>
            <a:pPr marL="285750" indent="-285750">
              <a:buFont typeface="Wingdings" panose="05000000000000000000" pitchFamily="2" charset="2"/>
              <a:buChar char="ü"/>
            </a:pPr>
            <a:r>
              <a:rPr lang="en-IN" dirty="0">
                <a:solidFill>
                  <a:schemeClr val="tx1"/>
                </a:solidFill>
                <a:latin typeface="Times New Roman" panose="02020603050405020304" pitchFamily="18" charset="0"/>
                <a:cs typeface="Times New Roman" panose="02020603050405020304" pitchFamily="18" charset="0"/>
              </a:rPr>
              <a:t>ADVANTAGES</a:t>
            </a:r>
          </a:p>
          <a:p>
            <a:pPr marL="285750" indent="-285750">
              <a:buFont typeface="Wingdings" panose="05000000000000000000" pitchFamily="2" charset="2"/>
              <a:buChar char="ü"/>
            </a:pPr>
            <a:r>
              <a:rPr lang="en-IN" dirty="0">
                <a:solidFill>
                  <a:schemeClr val="tx1"/>
                </a:solidFill>
                <a:latin typeface="Times New Roman" panose="02020603050405020304" pitchFamily="18" charset="0"/>
                <a:cs typeface="Times New Roman" panose="02020603050405020304" pitchFamily="18" charset="0"/>
              </a:rPr>
              <a:t>CONCLUSION</a:t>
            </a:r>
          </a:p>
          <a:p>
            <a:endParaRPr lang="en-US" dirty="0"/>
          </a:p>
        </p:txBody>
      </p:sp>
    </p:spTree>
    <p:extLst>
      <p:ext uri="{BB962C8B-B14F-4D97-AF65-F5344CB8AC3E}">
        <p14:creationId xmlns:p14="http://schemas.microsoft.com/office/powerpoint/2010/main" val="578218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211A2E-CCA5-E45E-EBCF-4A83611EF855}"/>
              </a:ext>
            </a:extLst>
          </p:cNvPr>
          <p:cNvSpPr txBox="1"/>
          <p:nvPr/>
        </p:nvSpPr>
        <p:spPr>
          <a:xfrm>
            <a:off x="464308" y="486967"/>
            <a:ext cx="3179079"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Abstract</a:t>
            </a:r>
            <a:r>
              <a:rPr lang="en-US" sz="2800" b="1" dirty="0">
                <a:latin typeface="Times New Roman" panose="02020603050405020304" pitchFamily="18" charset="0"/>
                <a:cs typeface="Times New Roman" panose="02020603050405020304" pitchFamily="18" charset="0"/>
              </a:rPr>
              <a:t>:</a:t>
            </a:r>
          </a:p>
        </p:txBody>
      </p:sp>
      <p:sp>
        <p:nvSpPr>
          <p:cNvPr id="11" name="TextBox 10">
            <a:extLst>
              <a:ext uri="{FF2B5EF4-FFF2-40B4-BE49-F238E27FC236}">
                <a16:creationId xmlns:a16="http://schemas.microsoft.com/office/drawing/2014/main" id="{F45FF000-DBD2-BEDD-321E-A9A8D1F0E05B}"/>
              </a:ext>
            </a:extLst>
          </p:cNvPr>
          <p:cNvSpPr txBox="1"/>
          <p:nvPr/>
        </p:nvSpPr>
        <p:spPr>
          <a:xfrm>
            <a:off x="464308" y="1052827"/>
            <a:ext cx="6827203" cy="34163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This abstract introduces a Zoo Management System aimed at improving operational efficiency and visitor experiences in zoological institutions. By allowing users to easily access detailed information about animals through name-based searches, the system streamlines data retrieval for both staff and visitors.</a:t>
            </a:r>
          </a:p>
          <a:p>
            <a:r>
              <a:rPr lang="en-US" dirty="0">
                <a:latin typeface="Times New Roman" panose="02020603050405020304" pitchFamily="18" charset="0"/>
                <a:cs typeface="Times New Roman" panose="02020603050405020304" pitchFamily="18" charset="0"/>
              </a:rPr>
              <a:t>Using modern web technologies like HTML, CSS, and </a:t>
            </a:r>
            <a:r>
              <a:rPr lang="en-US" dirty="0" err="1">
                <a:latin typeface="Times New Roman" panose="02020603050405020304" pitchFamily="18" charset="0"/>
                <a:cs typeface="Times New Roman" panose="02020603050405020304" pitchFamily="18" charset="0"/>
              </a:rPr>
              <a:t>React.javascript</a:t>
            </a:r>
            <a:r>
              <a:rPr lang="en-US" dirty="0">
                <a:latin typeface="Times New Roman" panose="02020603050405020304" pitchFamily="18" charset="0"/>
                <a:cs typeface="Times New Roman" panose="02020603050405020304" pitchFamily="18" charset="0"/>
              </a:rPr>
              <a:t>  for the frontend, and Python with Django for the backend, the system ensures a user-friendly interface and secure server-side </a:t>
            </a:r>
            <a:r>
              <a:rPr lang="en-US" dirty="0" err="1">
                <a:latin typeface="Times New Roman" panose="02020603050405020304" pitchFamily="18" charset="0"/>
                <a:cs typeface="Times New Roman" panose="02020603050405020304" pitchFamily="18" charset="0"/>
              </a:rPr>
              <a:t>operations.Data</a:t>
            </a:r>
            <a:r>
              <a:rPr lang="en-US" dirty="0">
                <a:latin typeface="Times New Roman" panose="02020603050405020304" pitchFamily="18" charset="0"/>
                <a:cs typeface="Times New Roman" panose="02020603050405020304" pitchFamily="18" charset="0"/>
              </a:rPr>
              <a:t> about zoo animals is efficiently managed using a relational database management system (RDBMS), with integration capabilities for accessing additional animal information from external APIs.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9504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346858-7241-0725-AB39-DD6E2B61AD50}"/>
              </a:ext>
            </a:extLst>
          </p:cNvPr>
          <p:cNvSpPr txBox="1"/>
          <p:nvPr/>
        </p:nvSpPr>
        <p:spPr>
          <a:xfrm>
            <a:off x="615917" y="407452"/>
            <a:ext cx="3363855"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Key Objectives</a:t>
            </a:r>
            <a:r>
              <a:rPr lang="en-US" sz="280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B9176613-8CAA-F088-8C9F-835AB7F9867E}"/>
              </a:ext>
            </a:extLst>
          </p:cNvPr>
          <p:cNvSpPr txBox="1"/>
          <p:nvPr/>
        </p:nvSpPr>
        <p:spPr>
          <a:xfrm>
            <a:off x="336385" y="1256200"/>
            <a:ext cx="5955445" cy="2862322"/>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Develop a user-friendly interface for entering animal names and retrieving details.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Implement a backend system to efficiently manage and retrieve animal information.</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Ensure the accuracy, completeness, and timeliness of the information provided.</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Enhance visitor experiences by providing educational and engaging content about zoo animals.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Improve operational efficiency within the zoo by reducing the time and effort required for data retrieval tasks.</a:t>
            </a:r>
          </a:p>
        </p:txBody>
      </p:sp>
      <p:pic>
        <p:nvPicPr>
          <p:cNvPr id="2050" name="Picture 2" descr="children at zoo feeding giraffe - zoo stock pictures, royalty-free photos &amp; images">
            <a:extLst>
              <a:ext uri="{FF2B5EF4-FFF2-40B4-BE49-F238E27FC236}">
                <a16:creationId xmlns:a16="http://schemas.microsoft.com/office/drawing/2014/main" id="{5B818184-61CF-11E8-38DD-2CDBF0969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4977" y="1628402"/>
            <a:ext cx="2804792" cy="2273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454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6977" y="453849"/>
            <a:ext cx="8229600" cy="822960"/>
          </a:xfrm>
          <a:prstGeom prst="rect">
            <a:avLst/>
          </a:prstGeom>
          <a:noFill/>
          <a:ln/>
        </p:spPr>
        <p:txBody>
          <a:bodyPr wrap="square" rtlCol="0" anchor="ctr"/>
          <a:lstStyle/>
          <a:p>
            <a:r>
              <a:rPr lang="en-US" sz="2800" b="1" u="sng" dirty="0">
                <a:solidFill>
                  <a:srgbClr val="000000"/>
                </a:solidFill>
                <a:latin typeface="Times New Roman" panose="02020603050405020304" pitchFamily="18" charset="0"/>
                <a:ea typeface="Optima" pitchFamily="34" charset="-122"/>
                <a:cs typeface="Times New Roman" panose="02020603050405020304" pitchFamily="18" charset="0"/>
              </a:rPr>
              <a:t>Introduction to Zoo Management System</a:t>
            </a:r>
            <a:endParaRPr lang="en-US" sz="2800" u="sng" dirty="0">
              <a:latin typeface="Times New Roman" panose="02020603050405020304" pitchFamily="18" charset="0"/>
              <a:cs typeface="Times New Roman" panose="02020603050405020304" pitchFamily="18" charset="0"/>
            </a:endParaRPr>
          </a:p>
        </p:txBody>
      </p:sp>
      <p:sp>
        <p:nvSpPr>
          <p:cNvPr id="3" name="Text 1"/>
          <p:cNvSpPr/>
          <p:nvPr/>
        </p:nvSpPr>
        <p:spPr>
          <a:xfrm>
            <a:off x="326977" y="1329647"/>
            <a:ext cx="5121520" cy="3508443"/>
          </a:xfrm>
          <a:prstGeom prst="rect">
            <a:avLst/>
          </a:prstGeom>
          <a:noFill/>
          <a:ln/>
        </p:spPr>
        <p:txBody>
          <a:bodyPr wrap="square" rtlCol="0" anchor="t"/>
          <a:lstStyle/>
          <a:p>
            <a:pPr marL="342900" indent="-342900">
              <a:buSzPct val="100000"/>
              <a:buFont typeface="Wingdings" panose="05000000000000000000" pitchFamily="2" charset="2"/>
              <a:buChar char="Ø"/>
            </a:pPr>
            <a:r>
              <a:rPr lang="en-US" dirty="0">
                <a:solidFill>
                  <a:srgbClr val="000000"/>
                </a:solidFill>
                <a:latin typeface="Times New Roman" panose="02020603050405020304" pitchFamily="18" charset="0"/>
                <a:ea typeface="Optima" pitchFamily="34" charset="-122"/>
                <a:cs typeface="Times New Roman" panose="02020603050405020304" pitchFamily="18" charset="0"/>
              </a:rPr>
              <a:t>A zoo management system is a software tool used by zoos to efficiently manage their operations.</a:t>
            </a: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r>
              <a:rPr lang="en-US" dirty="0">
                <a:solidFill>
                  <a:srgbClr val="000000"/>
                </a:solidFill>
                <a:latin typeface="Times New Roman" panose="02020603050405020304" pitchFamily="18" charset="0"/>
                <a:ea typeface="Optima" pitchFamily="34" charset="-122"/>
                <a:cs typeface="Times New Roman" panose="02020603050405020304" pitchFamily="18" charset="0"/>
              </a:rPr>
              <a:t>It allows users to search for specific animals within the zoo and retrieve detailed information about them.</a:t>
            </a: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r>
              <a:rPr lang="en-US" dirty="0">
                <a:solidFill>
                  <a:srgbClr val="000000"/>
                </a:solidFill>
                <a:latin typeface="Times New Roman" panose="02020603050405020304" pitchFamily="18" charset="0"/>
                <a:ea typeface="Optima" pitchFamily="34" charset="-122"/>
                <a:cs typeface="Times New Roman" panose="02020603050405020304" pitchFamily="18" charset="0"/>
              </a:rPr>
              <a:t>This system enhances the overall visitor experience by providing comprehensive information about the zoo's inhabitants.</a:t>
            </a:r>
            <a:endParaRPr lang="en-US" dirty="0">
              <a:latin typeface="Times New Roman" panose="02020603050405020304" pitchFamily="18" charset="0"/>
              <a:cs typeface="Times New Roman" panose="02020603050405020304" pitchFamily="18" charset="0"/>
            </a:endParaRPr>
          </a:p>
        </p:txBody>
      </p:sp>
      <p:pic>
        <p:nvPicPr>
          <p:cNvPr id="2050" name="Picture 2" descr="lion - zoo stock pictures, royalty-free photos &amp; images">
            <a:extLst>
              <a:ext uri="{FF2B5EF4-FFF2-40B4-BE49-F238E27FC236}">
                <a16:creationId xmlns:a16="http://schemas.microsoft.com/office/drawing/2014/main" id="{A3A2E1A3-A99A-4076-E4BC-9EABFF6A45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0848" y="1435323"/>
            <a:ext cx="3406495" cy="29199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77429" y="365997"/>
            <a:ext cx="8229600" cy="822960"/>
          </a:xfrm>
          <a:prstGeom prst="rect">
            <a:avLst/>
          </a:prstGeom>
          <a:noFill/>
          <a:ln/>
        </p:spPr>
        <p:txBody>
          <a:bodyPr wrap="square" rtlCol="0" anchor="ctr"/>
          <a:lstStyle/>
          <a:p>
            <a:r>
              <a:rPr lang="en-US" sz="2800" b="1" u="sng" dirty="0">
                <a:solidFill>
                  <a:srgbClr val="000000"/>
                </a:solidFill>
                <a:latin typeface="Times New Roman" panose="02020603050405020304" pitchFamily="18" charset="0"/>
                <a:ea typeface="Optima" pitchFamily="34" charset="-122"/>
                <a:cs typeface="Times New Roman" panose="02020603050405020304" pitchFamily="18" charset="0"/>
              </a:rPr>
              <a:t>Implementation of Animal Search Feature</a:t>
            </a:r>
            <a:endParaRPr lang="en-US" sz="2800" u="sng" dirty="0">
              <a:latin typeface="Times New Roman" panose="02020603050405020304" pitchFamily="18" charset="0"/>
              <a:cs typeface="Times New Roman" panose="02020603050405020304" pitchFamily="18" charset="0"/>
            </a:endParaRPr>
          </a:p>
        </p:txBody>
      </p:sp>
      <p:sp>
        <p:nvSpPr>
          <p:cNvPr id="3" name="Text 1"/>
          <p:cNvSpPr/>
          <p:nvPr/>
        </p:nvSpPr>
        <p:spPr>
          <a:xfrm>
            <a:off x="533006" y="1209093"/>
            <a:ext cx="4225047" cy="3200400"/>
          </a:xfrm>
          <a:prstGeom prst="rect">
            <a:avLst/>
          </a:prstGeom>
          <a:noFill/>
          <a:ln/>
        </p:spPr>
        <p:txBody>
          <a:bodyPr wrap="square" rtlCol="0" anchor="t"/>
          <a:lstStyle/>
          <a:p>
            <a:pPr marL="342900" indent="-342900">
              <a:buSzPct val="100000"/>
              <a:buFont typeface="Wingdings" panose="05000000000000000000" pitchFamily="2" charset="2"/>
              <a:buChar char="Ø"/>
            </a:pPr>
            <a:r>
              <a:rPr lang="en-US" dirty="0">
                <a:solidFill>
                  <a:srgbClr val="000000"/>
                </a:solidFill>
                <a:latin typeface="Optima" pitchFamily="34" charset="0"/>
                <a:ea typeface="Optima" pitchFamily="34" charset="-122"/>
                <a:cs typeface="Optima" pitchFamily="34" charset="-120"/>
              </a:rPr>
              <a:t>The animal search feature can be integrated into the zoo's existing website or mobile app for easy access.</a:t>
            </a:r>
            <a:endParaRPr lang="en-US" dirty="0"/>
          </a:p>
          <a:p>
            <a:pPr marL="342900" indent="-342900">
              <a:buSzPct val="100000"/>
              <a:buFont typeface="Wingdings" panose="05000000000000000000" pitchFamily="2" charset="2"/>
              <a:buChar char="Ø"/>
            </a:pPr>
            <a:endParaRPr lang="en-US" dirty="0"/>
          </a:p>
          <a:p>
            <a:pPr marL="342900" indent="-342900">
              <a:buSzPct val="100000"/>
              <a:buFont typeface="Wingdings" panose="05000000000000000000" pitchFamily="2" charset="2"/>
              <a:buChar char="Ø"/>
            </a:pPr>
            <a:r>
              <a:rPr lang="en-US" dirty="0">
                <a:solidFill>
                  <a:srgbClr val="000000"/>
                </a:solidFill>
                <a:latin typeface="Optima" pitchFamily="34" charset="0"/>
                <a:ea typeface="Optima" pitchFamily="34" charset="-122"/>
                <a:cs typeface="Optima" pitchFamily="34" charset="-120"/>
              </a:rPr>
              <a:t>Zoo staff can regularly update the database with new information and animal profiles.</a:t>
            </a:r>
            <a:endParaRPr lang="en-US" dirty="0"/>
          </a:p>
          <a:p>
            <a:pPr marL="342900" indent="-342900">
              <a:buSzPct val="100000"/>
              <a:buFont typeface="Wingdings" panose="05000000000000000000" pitchFamily="2" charset="2"/>
              <a:buChar char="Ø"/>
            </a:pPr>
            <a:endParaRPr lang="en-US" dirty="0"/>
          </a:p>
          <a:p>
            <a:pPr marL="342900" indent="-342900">
              <a:buSzPct val="100000"/>
              <a:buFont typeface="Wingdings" panose="05000000000000000000" pitchFamily="2" charset="2"/>
              <a:buChar char="Ø"/>
            </a:pPr>
            <a:r>
              <a:rPr lang="en-US" dirty="0">
                <a:solidFill>
                  <a:srgbClr val="000000"/>
                </a:solidFill>
                <a:latin typeface="Optima" pitchFamily="34" charset="0"/>
                <a:ea typeface="Optima" pitchFamily="34" charset="-122"/>
                <a:cs typeface="Optima" pitchFamily="34" charset="-120"/>
              </a:rPr>
              <a:t>The search functionality can be customized to allow for easy filtering by species, habitat, or conservation status.</a:t>
            </a:r>
            <a:endParaRPr lang="en-US" dirty="0"/>
          </a:p>
        </p:txBody>
      </p:sp>
      <p:pic>
        <p:nvPicPr>
          <p:cNvPr id="4" name="Image 0" descr="https://search-letsfade-com.herokuapp.com/proxy?url=https://i.ytimg.com/vi/bcYxCcJDVMY/maxresdefault.jpg">
            <a:extLst>
              <a:ext uri="{FF2B5EF4-FFF2-40B4-BE49-F238E27FC236}">
                <a16:creationId xmlns:a16="http://schemas.microsoft.com/office/drawing/2014/main" id="{C3148708-C65E-066D-2602-93D56915A773}"/>
              </a:ext>
            </a:extLst>
          </p:cNvPr>
          <p:cNvPicPr>
            <a:picLocks noChangeAspect="1"/>
          </p:cNvPicPr>
          <p:nvPr/>
        </p:nvPicPr>
        <p:blipFill>
          <a:blip r:embed="rId3"/>
          <a:stretch>
            <a:fillRect/>
          </a:stretch>
        </p:blipFill>
        <p:spPr>
          <a:xfrm>
            <a:off x="5030864" y="1531767"/>
            <a:ext cx="2942270" cy="22884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99841" y="370735"/>
            <a:ext cx="8229600" cy="822960"/>
          </a:xfrm>
          <a:prstGeom prst="rect">
            <a:avLst/>
          </a:prstGeom>
          <a:noFill/>
          <a:ln/>
        </p:spPr>
        <p:txBody>
          <a:bodyPr wrap="square" rtlCol="0" anchor="ctr"/>
          <a:lstStyle/>
          <a:p>
            <a:r>
              <a:rPr lang="en-US" sz="2800" b="1" u="sng" dirty="0">
                <a:solidFill>
                  <a:srgbClr val="000000"/>
                </a:solidFill>
                <a:latin typeface="Times New Roman" panose="02020603050405020304" pitchFamily="18" charset="0"/>
                <a:ea typeface="Optima" pitchFamily="34" charset="-122"/>
                <a:cs typeface="Times New Roman" panose="02020603050405020304" pitchFamily="18" charset="0"/>
              </a:rPr>
              <a:t>User Interface and Experience</a:t>
            </a:r>
            <a:endParaRPr lang="en-US" sz="2800" u="sng" dirty="0">
              <a:latin typeface="Times New Roman" panose="02020603050405020304" pitchFamily="18" charset="0"/>
              <a:cs typeface="Times New Roman" panose="02020603050405020304" pitchFamily="18" charset="0"/>
            </a:endParaRPr>
          </a:p>
        </p:txBody>
      </p:sp>
      <p:sp>
        <p:nvSpPr>
          <p:cNvPr id="3" name="Text 1"/>
          <p:cNvSpPr/>
          <p:nvPr/>
        </p:nvSpPr>
        <p:spPr>
          <a:xfrm>
            <a:off x="187145" y="1266183"/>
            <a:ext cx="5777776" cy="3200400"/>
          </a:xfrm>
          <a:prstGeom prst="rect">
            <a:avLst/>
          </a:prstGeom>
          <a:noFill/>
          <a:ln/>
        </p:spPr>
        <p:txBody>
          <a:bodyPr wrap="square" rtlCol="0" anchor="t"/>
          <a:lstStyle/>
          <a:p>
            <a:pPr marL="342900" indent="-342900">
              <a:buSzPct val="100000"/>
              <a:buFont typeface="Wingdings" panose="05000000000000000000" pitchFamily="2" charset="2"/>
              <a:buChar char="Ø"/>
            </a:pPr>
            <a:r>
              <a:rPr lang="en-US" dirty="0">
                <a:solidFill>
                  <a:srgbClr val="000000"/>
                </a:solidFill>
                <a:latin typeface="Times New Roman" panose="02020603050405020304" pitchFamily="18" charset="0"/>
                <a:ea typeface="Optima" pitchFamily="34" charset="-122"/>
                <a:cs typeface="Times New Roman" panose="02020603050405020304" pitchFamily="18" charset="0"/>
              </a:rPr>
              <a:t>The user interface of the animal search feature should be user-friendly for visitors of all ages.</a:t>
            </a: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r>
              <a:rPr lang="en-US" dirty="0">
                <a:solidFill>
                  <a:srgbClr val="000000"/>
                </a:solidFill>
                <a:latin typeface="Times New Roman" panose="02020603050405020304" pitchFamily="18" charset="0"/>
                <a:ea typeface="Optima" pitchFamily="34" charset="-122"/>
                <a:cs typeface="Times New Roman" panose="02020603050405020304" pitchFamily="18" charset="0"/>
              </a:rPr>
              <a:t>Visitors should be able to easily navigate through the system to find the information they are looking for.</a:t>
            </a: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r>
              <a:rPr lang="en-US" dirty="0">
                <a:solidFill>
                  <a:srgbClr val="000000"/>
                </a:solidFill>
                <a:latin typeface="Times New Roman" panose="02020603050405020304" pitchFamily="18" charset="0"/>
                <a:ea typeface="Optima" pitchFamily="34" charset="-122"/>
                <a:cs typeface="Times New Roman" panose="02020603050405020304" pitchFamily="18" charset="0"/>
              </a:rPr>
              <a:t>Interactive elements such as photos, videos, and fun facts can enhance the user experience and make learning about animals more engaging.</a:t>
            </a:r>
            <a:endParaRPr lang="en-US" dirty="0">
              <a:latin typeface="Times New Roman" panose="02020603050405020304" pitchFamily="18" charset="0"/>
              <a:cs typeface="Times New Roman" panose="02020603050405020304" pitchFamily="18" charset="0"/>
            </a:endParaRPr>
          </a:p>
        </p:txBody>
      </p:sp>
      <p:pic>
        <p:nvPicPr>
          <p:cNvPr id="4098" name="Picture 2" descr="Free vector animal in the wild">
            <a:extLst>
              <a:ext uri="{FF2B5EF4-FFF2-40B4-BE49-F238E27FC236}">
                <a16:creationId xmlns:a16="http://schemas.microsoft.com/office/drawing/2014/main" id="{B53DB1D0-1F19-1D44-67CF-F8D9E035C009}"/>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6282354" y="1308651"/>
            <a:ext cx="2576071" cy="28594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822960"/>
          </a:xfrm>
          <a:prstGeom prst="rect">
            <a:avLst/>
          </a:prstGeom>
          <a:noFill/>
          <a:ln/>
        </p:spPr>
        <p:txBody>
          <a:bodyPr wrap="square" rtlCol="0" anchor="ctr"/>
          <a:lstStyle/>
          <a:p>
            <a:r>
              <a:rPr lang="en-US" sz="2800" b="1" u="sng" dirty="0">
                <a:solidFill>
                  <a:srgbClr val="000000"/>
                </a:solidFill>
                <a:latin typeface="Times New Roman" panose="02020603050405020304" pitchFamily="18" charset="0"/>
                <a:ea typeface="Optima" pitchFamily="34" charset="-122"/>
                <a:cs typeface="Times New Roman" panose="02020603050405020304" pitchFamily="18" charset="0"/>
              </a:rPr>
              <a:t>Data Management and Security</a:t>
            </a:r>
            <a:r>
              <a:rPr lang="en-US" sz="2800" b="1" dirty="0">
                <a:solidFill>
                  <a:srgbClr val="000000"/>
                </a:solidFill>
                <a:latin typeface="Times New Roman" panose="02020603050405020304" pitchFamily="18" charset="0"/>
                <a:ea typeface="Optima" pitchFamily="34" charset="-122"/>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3" name="Text 1"/>
          <p:cNvSpPr/>
          <p:nvPr/>
        </p:nvSpPr>
        <p:spPr>
          <a:xfrm>
            <a:off x="349104" y="1197929"/>
            <a:ext cx="4782766" cy="2955587"/>
          </a:xfrm>
          <a:prstGeom prst="rect">
            <a:avLst/>
          </a:prstGeom>
          <a:noFill/>
          <a:ln/>
        </p:spPr>
        <p:txBody>
          <a:bodyPr wrap="square" rtlCol="0" anchor="t"/>
          <a:lstStyle/>
          <a:p>
            <a:pPr marL="342900" indent="-342900">
              <a:buSzPct val="100000"/>
              <a:buFont typeface="Wingdings" panose="05000000000000000000" pitchFamily="2" charset="2"/>
              <a:buChar char="Ø"/>
            </a:pPr>
            <a:r>
              <a:rPr lang="en-US" dirty="0">
                <a:solidFill>
                  <a:srgbClr val="000000"/>
                </a:solidFill>
                <a:latin typeface="Times New Roman" panose="02020603050405020304" pitchFamily="18" charset="0"/>
                <a:ea typeface="Optima" pitchFamily="34" charset="-122"/>
                <a:cs typeface="Times New Roman" panose="02020603050405020304" pitchFamily="18" charset="0"/>
              </a:rPr>
              <a:t>The zoo management system should have robust data management capabilities to ensure the accuracy and integrity of animal information.</a:t>
            </a: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r>
              <a:rPr lang="en-US" dirty="0">
                <a:solidFill>
                  <a:srgbClr val="000000"/>
                </a:solidFill>
                <a:latin typeface="Times New Roman" panose="02020603050405020304" pitchFamily="18" charset="0"/>
                <a:ea typeface="Optima" pitchFamily="34" charset="-122"/>
                <a:cs typeface="Times New Roman" panose="02020603050405020304" pitchFamily="18" charset="0"/>
              </a:rPr>
              <a:t>Data security measures should be in place to protect sensitive information and prevent unauthorized access.</a:t>
            </a: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342900" indent="-342900">
              <a:buSzPct val="100000"/>
              <a:buFont typeface="Wingdings" panose="05000000000000000000" pitchFamily="2" charset="2"/>
              <a:buChar char="Ø"/>
            </a:pPr>
            <a:r>
              <a:rPr lang="en-US" dirty="0">
                <a:solidFill>
                  <a:srgbClr val="000000"/>
                </a:solidFill>
                <a:latin typeface="Times New Roman" panose="02020603050405020304" pitchFamily="18" charset="0"/>
                <a:ea typeface="Optima" pitchFamily="34" charset="-122"/>
                <a:cs typeface="Times New Roman" panose="02020603050405020304" pitchFamily="18" charset="0"/>
              </a:rPr>
              <a:t>Regular backups and updates should be performed to safeguard data and ensure the smooth operation of the system.</a:t>
            </a:r>
            <a:endParaRPr lang="en-US" dirty="0">
              <a:latin typeface="Times New Roman" panose="02020603050405020304" pitchFamily="18" charset="0"/>
              <a:cs typeface="Times New Roman" panose="02020603050405020304" pitchFamily="18" charset="0"/>
            </a:endParaRPr>
          </a:p>
        </p:txBody>
      </p:sp>
      <p:pic>
        <p:nvPicPr>
          <p:cNvPr id="4" name="Image 0" descr="https://search-letsfade-com.herokuapp.com/proxy?url=http://pointsmap.com/sdzoo/data/photos/CustomMainMapImage.png">
            <a:extLst>
              <a:ext uri="{FF2B5EF4-FFF2-40B4-BE49-F238E27FC236}">
                <a16:creationId xmlns:a16="http://schemas.microsoft.com/office/drawing/2014/main" id="{3EFF1A83-87E8-FA2D-11EF-680CC1DDBC43}"/>
              </a:ext>
            </a:extLst>
          </p:cNvPr>
          <p:cNvPicPr>
            <a:picLocks noChangeAspect="1"/>
          </p:cNvPicPr>
          <p:nvPr/>
        </p:nvPicPr>
        <p:blipFill>
          <a:blip r:embed="rId3"/>
          <a:stretch>
            <a:fillRect/>
          </a:stretch>
        </p:blipFill>
        <p:spPr>
          <a:xfrm>
            <a:off x="5131870" y="1530214"/>
            <a:ext cx="2840476" cy="220925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E2D741-0DE0-61C3-2D4E-D7FA16CB37F4}"/>
              </a:ext>
            </a:extLst>
          </p:cNvPr>
          <p:cNvSpPr txBox="1"/>
          <p:nvPr/>
        </p:nvSpPr>
        <p:spPr>
          <a:xfrm>
            <a:off x="379026" y="336386"/>
            <a:ext cx="3529678" cy="523220"/>
          </a:xfrm>
          <a:prstGeom prst="rect">
            <a:avLst/>
          </a:prstGeom>
          <a:noFill/>
        </p:spPr>
        <p:txBody>
          <a:bodyPr wrap="square" rtlCol="0">
            <a:spAutoFit/>
          </a:bodyPr>
          <a:lstStyle/>
          <a:p>
            <a:r>
              <a:rPr lang="en-US" sz="2800" b="1" u="sng" dirty="0" err="1">
                <a:latin typeface="Times New Roman" panose="02020603050405020304" pitchFamily="18" charset="0"/>
                <a:cs typeface="Times New Roman" panose="02020603050405020304" pitchFamily="18" charset="0"/>
              </a:rPr>
              <a:t>Exisiting</a:t>
            </a:r>
            <a:r>
              <a:rPr lang="en-US" sz="2800" b="1" u="sng" dirty="0">
                <a:latin typeface="Times New Roman" panose="02020603050405020304" pitchFamily="18" charset="0"/>
                <a:cs typeface="Times New Roman" panose="02020603050405020304" pitchFamily="18" charset="0"/>
              </a:rPr>
              <a:t> Solutions</a:t>
            </a:r>
            <a:r>
              <a:rPr lang="en-US" sz="2800" b="1"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880D247A-7C3F-2753-DA0B-0534CFE09840}"/>
              </a:ext>
            </a:extLst>
          </p:cNvPr>
          <p:cNvSpPr txBox="1"/>
          <p:nvPr/>
        </p:nvSpPr>
        <p:spPr>
          <a:xfrm>
            <a:off x="416930" y="990205"/>
            <a:ext cx="6656642" cy="4524315"/>
          </a:xfrm>
          <a:prstGeom prst="rect">
            <a:avLst/>
          </a:prstGeom>
          <a:noFill/>
        </p:spPr>
        <p:txBody>
          <a:bodyPr wrap="square" rtlCol="0">
            <a:spAutoFit/>
          </a:bodyPr>
          <a:lstStyle/>
          <a:p>
            <a:pPr marL="285750" indent="-285750">
              <a:buFont typeface="Wingdings" panose="05000000000000000000" pitchFamily="2" charset="2"/>
              <a:buChar char="Ø"/>
            </a:pPr>
            <a:r>
              <a:rPr lang="en-US" b="1" u="sng" dirty="0" err="1">
                <a:latin typeface="Times New Roman" panose="02020603050405020304" pitchFamily="18" charset="0"/>
                <a:cs typeface="Times New Roman" panose="02020603050405020304" pitchFamily="18" charset="0"/>
              </a:rPr>
              <a:t>ZooEasy</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ZooEasy</a:t>
            </a:r>
            <a:r>
              <a:rPr lang="en-US" dirty="0">
                <a:latin typeface="Times New Roman" panose="02020603050405020304" pitchFamily="18" charset="0"/>
                <a:cs typeface="Times New Roman" panose="02020603050405020304" pitchFamily="18" charset="0"/>
              </a:rPr>
              <a:t> is a software solution designed specifically for managing animal collections in zoos, aquariums, and wildlife parks.</a:t>
            </a:r>
          </a:p>
          <a:p>
            <a:pPr marL="285750" indent="-285750">
              <a:buFont typeface="Wingdings" panose="05000000000000000000" pitchFamily="2" charset="2"/>
              <a:buChar char="Ø"/>
            </a:pPr>
            <a:r>
              <a:rPr lang="en-US" b="1" u="sng" dirty="0" err="1">
                <a:latin typeface="Times New Roman" panose="02020603050405020304" pitchFamily="18" charset="0"/>
                <a:cs typeface="Times New Roman" panose="02020603050405020304" pitchFamily="18" charset="0"/>
              </a:rPr>
              <a:t>ZooMIS</a:t>
            </a:r>
            <a:r>
              <a:rPr lang="en-US" b="1" u="sng" dirty="0">
                <a:latin typeface="Times New Roman" panose="02020603050405020304" pitchFamily="18" charset="0"/>
                <a:cs typeface="Times New Roman" panose="02020603050405020304" pitchFamily="18" charset="0"/>
              </a:rPr>
              <a:t> (Zoo Management Information System):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ZooMIS</a:t>
            </a:r>
            <a:r>
              <a:rPr lang="en-US" dirty="0">
                <a:latin typeface="Times New Roman" panose="02020603050405020304" pitchFamily="18" charset="0"/>
                <a:cs typeface="Times New Roman" panose="02020603050405020304" pitchFamily="18" charset="0"/>
              </a:rPr>
              <a:t>, developed by the European Association of Zoos and Aquaria (EAZA), offers a customizable platform for managing various aspects of zoo operations, including animal records, husbandry, and breeding programs. It also provides tools for visitor management, education, and conservation efforts.</a:t>
            </a:r>
          </a:p>
          <a:p>
            <a:pPr marL="285750" indent="-285750">
              <a:buFont typeface="Wingdings" panose="05000000000000000000" pitchFamily="2" charset="2"/>
              <a:buChar char="Ø"/>
            </a:pPr>
            <a:r>
              <a:rPr lang="en-US" b="1" u="sng" dirty="0">
                <a:latin typeface="Times New Roman" panose="02020603050405020304" pitchFamily="18" charset="0"/>
                <a:cs typeface="Times New Roman" panose="02020603050405020304" pitchFamily="18" charset="0"/>
              </a:rPr>
              <a:t>ZIMS (Zoological Information Management System):</a:t>
            </a:r>
            <a:r>
              <a:rPr lang="en-US" dirty="0">
                <a:latin typeface="Times New Roman" panose="02020603050405020304" pitchFamily="18" charset="0"/>
                <a:cs typeface="Times New Roman" panose="02020603050405020304" pitchFamily="18" charset="0"/>
              </a:rPr>
              <a:t>ZIMS, developed by Species360.It offers modules for animal records management, medical care, population management, and research collaboration, as well as integration with global conservation databases.</a:t>
            </a:r>
          </a:p>
          <a:p>
            <a:pPr marL="285750" indent="-285750">
              <a:buFont typeface="Wingdings" panose="05000000000000000000" pitchFamily="2" charset="2"/>
              <a:buChar char="Ø"/>
            </a:pPr>
            <a:endParaRPr lang="en-US" b="1" u="sng"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157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88DA52-18BC-0952-B0FB-856DA6B39CC8}"/>
              </a:ext>
            </a:extLst>
          </p:cNvPr>
          <p:cNvSpPr txBox="1"/>
          <p:nvPr/>
        </p:nvSpPr>
        <p:spPr>
          <a:xfrm>
            <a:off x="540112" y="483149"/>
            <a:ext cx="4666756"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Problem Definition</a:t>
            </a:r>
            <a:r>
              <a:rPr lang="en-US" sz="2800"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BC6EC286-1BA2-3530-05D5-A24EBE29078E}"/>
              </a:ext>
            </a:extLst>
          </p:cNvPr>
          <p:cNvSpPr txBox="1"/>
          <p:nvPr/>
        </p:nvSpPr>
        <p:spPr>
          <a:xfrm>
            <a:off x="331648" y="1066010"/>
            <a:ext cx="6945650" cy="3693319"/>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Zoos play a vital role in conservation, education, and entertainment, but managing the diverse array of tasks within a zoo efficiently can be challenging. One significant aspect is providing visitors with accurate and accessible information about the animals they encounter. Currently, accessing detailed information about zoo animals often requires manual searches or reliance on paper-based records, leading to inefficiencies and potentially inaccurate or outdated information.</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address this issue, the goal is to develop a Zoo Management System that allows users to enter the name of an animal and quickly retrieve relevant details. The system should streamline data retrieval for zoo staff and visitors, providing accurate and up-to-date information about the zoo's animal collection in a user-friendly manner.</a:t>
            </a:r>
          </a:p>
        </p:txBody>
      </p:sp>
    </p:spTree>
    <p:extLst>
      <p:ext uri="{BB962C8B-B14F-4D97-AF65-F5344CB8AC3E}">
        <p14:creationId xmlns:p14="http://schemas.microsoft.com/office/powerpoint/2010/main" val="10404537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44F81-1F03-D6C8-7AD3-530553B3DE2B}"/>
              </a:ext>
            </a:extLst>
          </p:cNvPr>
          <p:cNvSpPr>
            <a:spLocks noGrp="1"/>
          </p:cNvSpPr>
          <p:nvPr>
            <p:ph type="ctrTitle"/>
          </p:nvPr>
        </p:nvSpPr>
        <p:spPr>
          <a:xfrm>
            <a:off x="165825" y="301370"/>
            <a:ext cx="4875220" cy="653292"/>
          </a:xfrm>
        </p:spPr>
        <p:txBody>
          <a:bodyPr/>
          <a:lstStyle/>
          <a:p>
            <a:r>
              <a:rPr lang="en-US" u="sng" dirty="0">
                <a:latin typeface="Times New Roman" panose="02020603050405020304" pitchFamily="18" charset="0"/>
                <a:cs typeface="Times New Roman" panose="02020603050405020304" pitchFamily="18" charset="0"/>
              </a:rPr>
              <a:t>Technologies Used:</a:t>
            </a:r>
          </a:p>
        </p:txBody>
      </p:sp>
      <p:sp>
        <p:nvSpPr>
          <p:cNvPr id="3" name="Subtitle 2">
            <a:extLst>
              <a:ext uri="{FF2B5EF4-FFF2-40B4-BE49-F238E27FC236}">
                <a16:creationId xmlns:a16="http://schemas.microsoft.com/office/drawing/2014/main" id="{661F3B0A-D931-F061-4AC4-1B589268986C}"/>
              </a:ext>
            </a:extLst>
          </p:cNvPr>
          <p:cNvSpPr>
            <a:spLocks noGrp="1"/>
          </p:cNvSpPr>
          <p:nvPr>
            <p:ph type="subTitle" idx="1"/>
          </p:nvPr>
        </p:nvSpPr>
        <p:spPr>
          <a:xfrm>
            <a:off x="459570" y="997567"/>
            <a:ext cx="7596772" cy="822674"/>
          </a:xfrm>
        </p:spPr>
        <p:txBody>
          <a:bodyPr>
            <a:noAutofit/>
          </a:bodyPr>
          <a:lstStyle/>
          <a:p>
            <a:pPr marL="285750" indent="-285750" algn="l">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To create a Zoo Management System where users can enter the name of an animal and retrieve its details, you'll need a combination of frontend and backend technologies along with a database to store and retrieve animal information. Here's a breakdown of the technologies you could use for different components of the system:</a:t>
            </a:r>
          </a:p>
        </p:txBody>
      </p:sp>
      <p:sp>
        <p:nvSpPr>
          <p:cNvPr id="4" name="TextBox 3">
            <a:extLst>
              <a:ext uri="{FF2B5EF4-FFF2-40B4-BE49-F238E27FC236}">
                <a16:creationId xmlns:a16="http://schemas.microsoft.com/office/drawing/2014/main" id="{F16E3277-A327-892D-3DAB-DC5A0FDF4E2D}"/>
              </a:ext>
            </a:extLst>
          </p:cNvPr>
          <p:cNvSpPr txBox="1"/>
          <p:nvPr/>
        </p:nvSpPr>
        <p:spPr>
          <a:xfrm>
            <a:off x="743839" y="2478535"/>
            <a:ext cx="5495876" cy="2585323"/>
          </a:xfrm>
          <a:prstGeom prst="rect">
            <a:avLst/>
          </a:prstGeom>
          <a:noFill/>
        </p:spPr>
        <p:txBody>
          <a:bodyPr wrap="square" rtlCol="0">
            <a:spAutoFit/>
          </a:bodyPr>
          <a:lstStyle/>
          <a:p>
            <a:pPr marL="285750" indent="-285750">
              <a:buFont typeface="Wingdings" panose="05000000000000000000" pitchFamily="2" charset="2"/>
              <a:buChar char="Ø"/>
            </a:pPr>
            <a:r>
              <a:rPr lang="en-US" b="1" u="sng" dirty="0">
                <a:latin typeface="Times New Roman" panose="02020603050405020304" pitchFamily="18" charset="0"/>
                <a:cs typeface="Times New Roman" panose="02020603050405020304" pitchFamily="18" charset="0"/>
              </a:rPr>
              <a:t>Frontend Development:</a:t>
            </a:r>
          </a:p>
          <a:p>
            <a:r>
              <a:rPr lang="en-US" dirty="0">
                <a:latin typeface="Times New Roman" panose="02020603050405020304" pitchFamily="18" charset="0"/>
                <a:cs typeface="Times New Roman" panose="02020603050405020304" pitchFamily="18" charset="0"/>
              </a:rPr>
              <a:t>    HTML/CSS for structure and styling.</a:t>
            </a:r>
          </a:p>
          <a:p>
            <a:r>
              <a:rPr lang="en-US" dirty="0">
                <a:latin typeface="Times New Roman" panose="02020603050405020304" pitchFamily="18" charset="0"/>
                <a:cs typeface="Times New Roman" panose="02020603050405020304" pitchFamily="18" charset="0"/>
              </a:rPr>
              <a:t>    JavaScript for interactivity. Angular for dynamic </a:t>
            </a:r>
          </a:p>
          <a:p>
            <a:pPr marL="285750" indent="-285750">
              <a:buFont typeface="Wingdings" panose="05000000000000000000" pitchFamily="2" charset="2"/>
              <a:buChar char="Ø"/>
            </a:pPr>
            <a:r>
              <a:rPr lang="en-US" b="1" u="sng" dirty="0">
                <a:latin typeface="Times New Roman" panose="02020603050405020304" pitchFamily="18" charset="0"/>
                <a:cs typeface="Times New Roman" panose="02020603050405020304" pitchFamily="18" charset="0"/>
              </a:rPr>
              <a:t>Backend </a:t>
            </a:r>
            <a:r>
              <a:rPr lang="en-US" b="1" u="sng" dirty="0" err="1">
                <a:latin typeface="Times New Roman" panose="02020603050405020304" pitchFamily="18" charset="0"/>
                <a:cs typeface="Times New Roman" panose="02020603050405020304" pitchFamily="18" charset="0"/>
              </a:rPr>
              <a:t>Development</a:t>
            </a:r>
            <a:r>
              <a:rPr lang="en-US" dirty="0" err="1">
                <a:latin typeface="Times New Roman" panose="02020603050405020304" pitchFamily="18" charset="0"/>
                <a:cs typeface="Times New Roman" panose="02020603050405020304" pitchFamily="18" charset="0"/>
              </a:rPr>
              <a:t>:Python</a:t>
            </a:r>
            <a:r>
              <a:rPr lang="en-US" dirty="0">
                <a:latin typeface="Times New Roman" panose="02020603050405020304" pitchFamily="18" charset="0"/>
                <a:cs typeface="Times New Roman" panose="02020603050405020304" pitchFamily="18" charset="0"/>
              </a:rPr>
              <a:t> (Django/Flask),or Java for server-side </a:t>
            </a:r>
            <a:r>
              <a:rPr lang="en-US" dirty="0" err="1">
                <a:latin typeface="Times New Roman" panose="02020603050405020304" pitchFamily="18" charset="0"/>
                <a:cs typeface="Times New Roman" panose="02020603050405020304" pitchFamily="18" charset="0"/>
              </a:rPr>
              <a:t>logic.RESTful</a:t>
            </a:r>
            <a:r>
              <a:rPr lang="en-US" dirty="0">
                <a:latin typeface="Times New Roman" panose="02020603050405020304" pitchFamily="18" charset="0"/>
                <a:cs typeface="Times New Roman" panose="02020603050405020304" pitchFamily="18" charset="0"/>
              </a:rPr>
              <a:t> API for communication between frontend and </a:t>
            </a:r>
            <a:r>
              <a:rPr lang="en-US" dirty="0" err="1">
                <a:latin typeface="Times New Roman" panose="02020603050405020304" pitchFamily="18" charset="0"/>
                <a:cs typeface="Times New Roman" panose="02020603050405020304" pitchFamily="18" charset="0"/>
              </a:rPr>
              <a:t>backend.Authentication</a:t>
            </a:r>
            <a:r>
              <a:rPr lang="en-US" dirty="0">
                <a:latin typeface="Times New Roman" panose="02020603050405020304" pitchFamily="18" charset="0"/>
                <a:cs typeface="Times New Roman" panose="02020603050405020304" pitchFamily="18" charset="0"/>
              </a:rPr>
              <a:t> mechanisms for security.</a:t>
            </a:r>
          </a:p>
          <a:p>
            <a:pPr marL="285750" indent="-285750">
              <a:buFont typeface="Wingdings" panose="05000000000000000000" pitchFamily="2" charset="2"/>
              <a:buChar char="Ø"/>
            </a:pPr>
            <a:r>
              <a:rPr lang="en-US" b="1" u="sng" dirty="0" err="1">
                <a:latin typeface="Times New Roman" panose="02020603050405020304" pitchFamily="18" charset="0"/>
                <a:cs typeface="Times New Roman" panose="02020603050405020304" pitchFamily="18" charset="0"/>
              </a:rPr>
              <a:t>Database:</a:t>
            </a:r>
            <a:r>
              <a:rPr lang="en-US" dirty="0" err="1">
                <a:latin typeface="Times New Roman" panose="02020603050405020304" pitchFamily="18" charset="0"/>
                <a:cs typeface="Times New Roman" panose="02020603050405020304" pitchFamily="18" charset="0"/>
              </a:rPr>
              <a:t>MySQL</a:t>
            </a:r>
            <a:r>
              <a:rPr lang="en-US" dirty="0">
                <a:latin typeface="Times New Roman" panose="02020603050405020304" pitchFamily="18" charset="0"/>
                <a:cs typeface="Times New Roman" panose="02020603050405020304" pitchFamily="18" charset="0"/>
              </a:rPr>
              <a:t>, PostgreSQL, or SQLite for storing animal data.</a:t>
            </a:r>
          </a:p>
        </p:txBody>
      </p:sp>
      <p:pic>
        <p:nvPicPr>
          <p:cNvPr id="1032" name="Picture 8" descr="zoo - zoo stock pictures, royalty-free photos &amp; images">
            <a:extLst>
              <a:ext uri="{FF2B5EF4-FFF2-40B4-BE49-F238E27FC236}">
                <a16:creationId xmlns:a16="http://schemas.microsoft.com/office/drawing/2014/main" id="{D7CA7644-3791-B3B4-B8F7-6AFAF6AD1A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9172" y="2385199"/>
            <a:ext cx="2635455" cy="2319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574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00852" y="405321"/>
            <a:ext cx="8229600" cy="822960"/>
          </a:xfrm>
          <a:prstGeom prst="rect">
            <a:avLst/>
          </a:prstGeom>
          <a:noFill/>
          <a:ln/>
        </p:spPr>
        <p:txBody>
          <a:bodyPr wrap="square" rtlCol="0" anchor="ctr"/>
          <a:lstStyle/>
          <a:p>
            <a:r>
              <a:rPr lang="en-US" sz="2800" b="1" u="sng" dirty="0">
                <a:latin typeface="Times New Roman" panose="02020603050405020304" pitchFamily="18" charset="0"/>
                <a:cs typeface="Times New Roman" panose="02020603050405020304" pitchFamily="18" charset="0"/>
              </a:rPr>
              <a:t>Advantages:</a:t>
            </a:r>
          </a:p>
        </p:txBody>
      </p:sp>
      <p:sp>
        <p:nvSpPr>
          <p:cNvPr id="3" name="Text 1"/>
          <p:cNvSpPr/>
          <p:nvPr/>
        </p:nvSpPr>
        <p:spPr>
          <a:xfrm>
            <a:off x="229785" y="1143000"/>
            <a:ext cx="7052250" cy="3200400"/>
          </a:xfrm>
          <a:prstGeom prst="rect">
            <a:avLst/>
          </a:prstGeom>
          <a:noFill/>
          <a:ln/>
        </p:spPr>
        <p:txBody>
          <a:bodyPr wrap="square" rtlCol="0" anchor="t"/>
          <a:lstStyle/>
          <a:p>
            <a:pPr marL="285750" indent="-285750">
              <a:buSzPct val="1000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Efficient Information Retrieval: </a:t>
            </a:r>
            <a:r>
              <a:rPr lang="en-US" dirty="0">
                <a:latin typeface="Times New Roman" panose="02020603050405020304" pitchFamily="18" charset="0"/>
                <a:cs typeface="Times New Roman" panose="02020603050405020304" pitchFamily="18" charset="0"/>
              </a:rPr>
              <a:t>Visitors and staff can quickly access detailed information about zoo animals by simply entering their names, reducing the time and effort required for data retrieval.</a:t>
            </a:r>
          </a:p>
          <a:p>
            <a:pPr marL="285750" indent="-285750">
              <a:buSzPct val="1000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Enhanced Visitor Experience: </a:t>
            </a:r>
            <a:r>
              <a:rPr lang="en-US" dirty="0">
                <a:latin typeface="Times New Roman" panose="02020603050405020304" pitchFamily="18" charset="0"/>
                <a:cs typeface="Times New Roman" panose="02020603050405020304" pitchFamily="18" charset="0"/>
              </a:rPr>
              <a:t>Visitors can learn more about the animals they encounter during their zoo visit, enriching their experience and fostering a greater appreciation for wildlife conservation.</a:t>
            </a:r>
          </a:p>
          <a:p>
            <a:pPr marL="285750" indent="-285750">
              <a:buSzPct val="1000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Improved Animal Welfare: </a:t>
            </a:r>
            <a:r>
              <a:rPr lang="en-US" dirty="0">
                <a:latin typeface="Times New Roman" panose="02020603050405020304" pitchFamily="18" charset="0"/>
                <a:cs typeface="Times New Roman" panose="02020603050405020304" pitchFamily="18" charset="0"/>
              </a:rPr>
              <a:t>Zookeepers and veterinary staff can easily access and update animal records, ensuring that animals receive appropriate care and attention based on their individual needs.</a:t>
            </a:r>
          </a:p>
          <a:p>
            <a:pPr marL="285750" indent="-285750">
              <a:buSzPct val="1000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Streamlined Operations</a:t>
            </a:r>
            <a:r>
              <a:rPr lang="en-US" dirty="0">
                <a:latin typeface="Times New Roman" panose="02020603050405020304" pitchFamily="18" charset="0"/>
                <a:cs typeface="Times New Roman" panose="02020603050405020304" pitchFamily="18" charset="0"/>
              </a:rPr>
              <a:t>: The system simplifies administrative tasks related to animal management, reducing paperwork and manual data entry for zoo staff and allowing them to focus more on animal care and conservation efforts.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461C89-7208-4E7D-D94A-AB8812144A4A}"/>
              </a:ext>
            </a:extLst>
          </p:cNvPr>
          <p:cNvSpPr txBox="1"/>
          <p:nvPr/>
        </p:nvSpPr>
        <p:spPr>
          <a:xfrm>
            <a:off x="668033" y="833857"/>
            <a:ext cx="6827204" cy="3170099"/>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Conclusion:</a:t>
            </a:r>
          </a:p>
          <a:p>
            <a:endParaRPr lang="en-US" sz="2800" b="1" u="sng"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Zoo Management System provides an efficient solution for zoo operations, visitor engagement, and conservation efforts. Its user-friendly interface, powered by modern web technologies, simplifies data retrieval for both staff and visitors. Integration with external APIs enhances the system's capabilities, while cloud deployment ensures scalability and reliability. Overall, the system represents a significant advancement in zoo management practices, promising to improve operational efficiency and conserves times.</a:t>
            </a:r>
          </a:p>
        </p:txBody>
      </p:sp>
    </p:spTree>
    <p:extLst>
      <p:ext uri="{BB962C8B-B14F-4D97-AF65-F5344CB8AC3E}">
        <p14:creationId xmlns:p14="http://schemas.microsoft.com/office/powerpoint/2010/main" val="3019768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ank You handwritten inscription. Hand drawn lettering. Thank You calligraphy. Thank you card. Vector illustration.">
            <a:extLst>
              <a:ext uri="{FF2B5EF4-FFF2-40B4-BE49-F238E27FC236}">
                <a16:creationId xmlns:a16="http://schemas.microsoft.com/office/drawing/2014/main" id="{7EC8EFF7-3CE6-9258-7CC8-3D3C803ADE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646" t="18656" r="15302" b="18339"/>
          <a:stretch/>
        </p:blipFill>
        <p:spPr bwMode="auto">
          <a:xfrm>
            <a:off x="5192655" y="2439979"/>
            <a:ext cx="2402077" cy="2160448"/>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Vector zoo entrance outdoor view with different cartoon animals">
            <a:extLst>
              <a:ext uri="{FF2B5EF4-FFF2-40B4-BE49-F238E27FC236}">
                <a16:creationId xmlns:a16="http://schemas.microsoft.com/office/drawing/2014/main" id="{591978EF-4917-47C5-CC39-F3FB45F06296}"/>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529403" y="446737"/>
            <a:ext cx="4663252" cy="3605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28572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712</TotalTime>
  <Words>1056</Words>
  <Application>Microsoft Office PowerPoint</Application>
  <PresentationFormat>On-screen Show (16:9)</PresentationFormat>
  <Paragraphs>78</Paragraphs>
  <Slides>14</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Algerian</vt:lpstr>
      <vt:lpstr>Arial</vt:lpstr>
      <vt:lpstr>Optima</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Technologies Used:</vt:lpstr>
      <vt:lpstr>PowerPoint Presentation</vt:lpstr>
      <vt:lpstr>PowerPoint Presentation</vt:lpstr>
      <vt:lpstr>PowerPoint Presentation</vt:lpstr>
    </vt:vector>
  </TitlesOfParts>
  <Company>SlideMake.com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Zoo Management System When We Search For A Animal We Get Full Details About It</dc:title>
  <dc:subject>Zoo Management System When We Search For A Animal We Get Full Details About It</dc:subject>
  <dc:creator>SlideMake.com</dc:creator>
  <cp:lastModifiedBy>ajaygaje313@outlook.com</cp:lastModifiedBy>
  <cp:revision>5</cp:revision>
  <dcterms:created xsi:type="dcterms:W3CDTF">2024-05-08T15:17:06Z</dcterms:created>
  <dcterms:modified xsi:type="dcterms:W3CDTF">2024-05-09T04:37:47Z</dcterms:modified>
</cp:coreProperties>
</file>